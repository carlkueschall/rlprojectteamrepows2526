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6" r:id="rId3"/>
    <p:sldId id="267" r:id="rId4"/>
    <p:sldId id="268" r:id="rId5"/>
    <p:sldId id="259" r:id="rId6"/>
    <p:sldId id="260" r:id="rId7"/>
    <p:sldId id="261" r:id="rId8"/>
    <p:sldId id="262" r:id="rId9"/>
    <p:sldId id="269" r:id="rId10"/>
    <p:sldId id="263" r:id="rId11"/>
    <p:sldId id="264" r:id="rId12"/>
    <p:sldId id="270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36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9"/>
    <p:restoredTop sz="94673"/>
  </p:normalViewPr>
  <p:slideViewPr>
    <p:cSldViewPr snapToGrid="0">
      <p:cViewPr>
        <p:scale>
          <a:sx n="175" d="100"/>
          <a:sy n="175" d="100"/>
        </p:scale>
        <p:origin x="1296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189775-F3B1-4B40-9F44-15617EA7B6BD}" type="datetimeFigureOut">
              <a:rPr lang="en-US" smtClean="0"/>
              <a:t>2/25/26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E070F8-AABA-4F4C-B0F7-99BDB6F3D8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316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E070F8-AABA-4F4C-B0F7-99BDB6F3D87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6076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CCF97-D909-5D2F-42A7-72FD553C1C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178EB6-FFDF-7D5C-A9E5-E5E3DC6018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B6AC2E-3668-78EA-98F8-81D19BB5D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ABA69-4F5D-AF48-BEA4-29308F17D6B6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FC979C-EFEA-A55B-0979-51B19BDE8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776D3-621F-FC40-2608-ECEDD0609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1AB90-2C44-3F4D-8F5E-151E9802D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575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B32DD-5D18-F017-520D-215D1951D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1D928-61DE-456C-D16F-89137B059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D7F674-660F-CB51-4B42-BEFD4905D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ABA69-4F5D-AF48-BEA4-29308F17D6B6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403D06-E3D6-6525-EA1F-A6C27A393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36C5C0-ABB7-0201-0265-F00153480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1AB90-2C44-3F4D-8F5E-151E9802D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556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1E74E-0D35-6E20-D830-32D59BBA6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182F87-BA52-367F-8CE7-727E7803C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E86DB-2824-82DC-A82B-EA9D254DE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ABA69-4F5D-AF48-BEA4-29308F17D6B6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95ED80-B57E-C08D-B0E2-D611E5F27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2B311-89E6-F066-1AB3-FDBC608ED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1AB90-2C44-3F4D-8F5E-151E9802D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837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5A90C-E4C4-A5D6-4A99-61A83B41C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27D68-62A1-BE94-837B-628B07F21C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197365-868A-4CFE-8907-77D979DEEA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F70802-D4A1-12F8-A1A9-D7BC719EA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ABA69-4F5D-AF48-BEA4-29308F17D6B6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9D2464-D630-B5F6-1828-177F39EA7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C20FFB-7CDC-B36B-D437-F4F274781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1AB90-2C44-3F4D-8F5E-151E9802D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728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9EED0-2FF9-693A-10CC-C63B96F4C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3E4869-A808-B41A-F19D-7B1D61C614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22EE26-93AD-B76A-7FFC-74519CBD5A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F5B5BE-8B02-A401-9001-C9D58F2679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AB3E8B-7E0F-F064-AE8E-7418616BF0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50BC19-53BC-F0E6-841E-3B4AC97CE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ABA69-4F5D-AF48-BEA4-29308F17D6B6}" type="datetimeFigureOut">
              <a:rPr lang="en-US" smtClean="0"/>
              <a:t>2/25/26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D6F8FE-806E-218C-DECF-93E33C18F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0FBC7A-13FA-DFBC-21C1-FA1EE7B06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1AB90-2C44-3F4D-8F5E-151E9802D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238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C5D7F-62EA-712E-29E2-96A24629E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A153C8-E755-EA1F-900F-EBA8E0427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ABA69-4F5D-AF48-BEA4-29308F17D6B6}" type="datetimeFigureOut">
              <a:rPr lang="en-US" smtClean="0"/>
              <a:t>2/25/26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842369-D00A-25D4-F40A-3EE2987EB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371D39-7840-AEF3-598A-857982C22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1AB90-2C44-3F4D-8F5E-151E9802D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940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0D73D6-85C9-D61A-5441-9B9BE309A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ABA69-4F5D-AF48-BEA4-29308F17D6B6}" type="datetimeFigureOut">
              <a:rPr lang="en-US" smtClean="0"/>
              <a:t>2/25/26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CFEE53-8E34-E781-8FE0-BCA506F3C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30F925-F3E3-E13C-FCB0-A8675AC67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1AB90-2C44-3F4D-8F5E-151E9802D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681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1D185-354B-66AD-8C39-FB7B36908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7C589-04D4-484B-5AAA-B1D119677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028DE9-E0C5-C9F3-0323-272EDE846D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C8C6C2-20B6-9563-C4F0-6F035FE53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ABA69-4F5D-AF48-BEA4-29308F17D6B6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911D7B-C0F2-7219-D9F1-9EBB7AB93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FA6AF-9178-4731-3E15-030EDD244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1AB90-2C44-3F4D-8F5E-151E9802D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812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24F40-9450-1C2A-79D1-6A834F858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8BE665-B659-285F-0924-101C90956E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E6A6C2-1086-5E1A-04C2-13CF2938C6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AB3B30-9878-6601-49FE-72CE3B526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ABA69-4F5D-AF48-BEA4-29308F17D6B6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37D6C8-754C-7F3D-9083-85791BE4A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355B34-0039-4D29-2AB2-E2A0E2A75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1AB90-2C44-3F4D-8F5E-151E9802D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041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F4432-44AB-58E8-FBC4-DFCE8F496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DFBCC2-74F5-4B4E-2E6B-B7EE1ACA95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BA64AD-9AD0-19BD-3448-2C8E2BE9D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ABA69-4F5D-AF48-BEA4-29308F17D6B6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9BCC7E-81D5-FDDD-EE79-266FBB5A0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EEDB3-220A-5F68-DA55-A8B17A9B8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1AB90-2C44-3F4D-8F5E-151E9802D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358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D650AA-7028-A48C-98E3-36B30EC59B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9DB64E-F284-9646-C2DC-5790ECA38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CC0F12-CBB3-5170-E0DD-A461C1E2B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ABA69-4F5D-AF48-BEA4-29308F17D6B6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62C916-0D07-7A27-B370-0BD38C2ED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C2EFB-94F1-D5FA-487F-C503A775B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1AB90-2C44-3F4D-8F5E-151E9802D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783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24CE14-D4FE-8BD9-EE3E-9B5AB9DFA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A78E3A-97FF-6A5E-EF24-047D62C5A5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752A40-D0FF-C564-2BFB-A049A0DCD8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FABA69-4F5D-AF48-BEA4-29308F17D6B6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1ECEC-4D64-3C04-3112-3E97D9EA6D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552D6-EF8E-2EFF-FF93-8004221D9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81AB90-2C44-3F4D-8F5E-151E9802D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998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7" Type="http://schemas.openxmlformats.org/officeDocument/2006/relationships/image" Target="../media/image28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7" Type="http://schemas.openxmlformats.org/officeDocument/2006/relationships/image" Target="../media/image38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svg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viXppDhx4R0?start=3928&amp;feature=oembed" TargetMode="External"/><Relationship Id="rId5" Type="http://schemas.openxmlformats.org/officeDocument/2006/relationships/image" Target="../media/image41.png"/><Relationship Id="rId4" Type="http://schemas.openxmlformats.org/officeDocument/2006/relationships/image" Target="../media/image40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64715-D8F3-B598-122F-B1B5649242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Reinforcement Learning</a:t>
            </a:r>
            <a:br>
              <a:rPr lang="en-US" b="1" dirty="0"/>
            </a:br>
            <a:r>
              <a:rPr lang="en-US" b="1" dirty="0"/>
              <a:t>WS25/26</a:t>
            </a:r>
            <a:br>
              <a:rPr lang="en-US" b="1" dirty="0"/>
            </a:br>
            <a:r>
              <a:rPr lang="en-US" b="1" dirty="0"/>
              <a:t>Project Air-Hockey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AA7A8F-7B63-4A80-FCAF-F5B61032A4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Carl Kueschall</a:t>
            </a:r>
          </a:p>
          <a:p>
            <a:r>
              <a:rPr lang="en-US" dirty="0"/>
              <a:t>University of </a:t>
            </a:r>
            <a:r>
              <a:rPr lang="en-US" dirty="0" err="1"/>
              <a:t>Tuebingen</a:t>
            </a:r>
            <a:endParaRPr lang="en-US" dirty="0"/>
          </a:p>
          <a:p>
            <a:r>
              <a:rPr lang="en-US" dirty="0"/>
              <a:t>26.02.2026</a:t>
            </a:r>
          </a:p>
        </p:txBody>
      </p:sp>
    </p:spTree>
    <p:extLst>
      <p:ext uri="{BB962C8B-B14F-4D97-AF65-F5344CB8AC3E}">
        <p14:creationId xmlns:p14="http://schemas.microsoft.com/office/powerpoint/2010/main" val="2617499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AC733-5172-0CB8-BD27-47B9E3190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241F1-A77A-1549-7C12-0D41D1589A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9840" y="1041400"/>
            <a:ext cx="9144000" cy="2387600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Table of Contents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E25FBD-921B-CC4C-A235-1829679AB2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612198"/>
            <a:ext cx="9448800" cy="3123882"/>
          </a:xfrm>
        </p:spPr>
        <p:txBody>
          <a:bodyPr>
            <a:normAutofit fontScale="92500" lnSpcReduction="20000"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US" dirty="0"/>
              <a:t>Intro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/>
              <a:t>Problem Setup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/>
              <a:t>Method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/>
              <a:t>Training Curriculum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/>
              <a:t>Self-Play and League Curation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/>
              <a:t>Results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/>
              <a:t>Ablations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/>
              <a:t>Final Takeaways</a:t>
            </a:r>
          </a:p>
          <a:p>
            <a:pPr marL="457200" indent="-457200" algn="l">
              <a:buFont typeface="+mj-lt"/>
              <a:buAutoNum type="arabicPeriod"/>
            </a:pPr>
            <a:endParaRPr lang="en-US" dirty="0"/>
          </a:p>
        </p:txBody>
      </p:sp>
      <p:pic>
        <p:nvPicPr>
          <p:cNvPr id="5" name="Picture 4" descr="A black frame with a white circle and blue and orange dots&#10;&#10;AI-generated content may be incorrect.">
            <a:extLst>
              <a:ext uri="{FF2B5EF4-FFF2-40B4-BE49-F238E27FC236}">
                <a16:creationId xmlns:a16="http://schemas.microsoft.com/office/drawing/2014/main" id="{4DB26187-3D7D-729E-DE21-6184C41A0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22943"/>
            <a:ext cx="7772400" cy="2072640"/>
          </a:xfrm>
          <a:prstGeom prst="rect">
            <a:avLst/>
          </a:prstGeom>
          <a:ln w="38100">
            <a:solidFill>
              <a:schemeClr val="accent1">
                <a:shade val="15000"/>
              </a:schemeClr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356697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90EE0-D264-24A0-CA7C-09FA47148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D3137-A1BE-35D4-1F54-F1F599484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43727" cy="185556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DreamerV3 Hockey</a:t>
            </a:r>
            <a:br>
              <a:rPr lang="en-US" b="1" dirty="0"/>
            </a:br>
            <a:r>
              <a:rPr lang="en-US" dirty="0"/>
              <a:t>World-Model RL w/ recursive self-play and curated league training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B151876-9DB4-52AB-A774-8BF266D19E32}"/>
              </a:ext>
            </a:extLst>
          </p:cNvPr>
          <p:cNvSpPr/>
          <p:nvPr/>
        </p:nvSpPr>
        <p:spPr>
          <a:xfrm>
            <a:off x="6795795" y="2920482"/>
            <a:ext cx="1940768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Scratch Training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B0BD10D-0552-751F-F580-FFD353E42F38}"/>
              </a:ext>
            </a:extLst>
          </p:cNvPr>
          <p:cNvSpPr/>
          <p:nvPr/>
        </p:nvSpPr>
        <p:spPr>
          <a:xfrm>
            <a:off x="9277739" y="2920482"/>
            <a:ext cx="1940768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Self-Play Expansion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F8F364B-DA0E-15CA-7358-16255B222484}"/>
              </a:ext>
            </a:extLst>
          </p:cNvPr>
          <p:cNvSpPr/>
          <p:nvPr/>
        </p:nvSpPr>
        <p:spPr>
          <a:xfrm>
            <a:off x="6795795" y="4166651"/>
            <a:ext cx="1940768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Final Checkpoint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6D7E395-A2A9-37B3-2C24-2F1E8BFADEAC}"/>
              </a:ext>
            </a:extLst>
          </p:cNvPr>
          <p:cNvSpPr/>
          <p:nvPr/>
        </p:nvSpPr>
        <p:spPr>
          <a:xfrm>
            <a:off x="9277739" y="4166651"/>
            <a:ext cx="1940768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League Creation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D8F0AE-09F0-3AB5-BE15-CB4A6B22358A}"/>
              </a:ext>
            </a:extLst>
          </p:cNvPr>
          <p:cNvSpPr txBox="1"/>
          <p:nvPr/>
        </p:nvSpPr>
        <p:spPr>
          <a:xfrm>
            <a:off x="838199" y="2617127"/>
            <a:ext cx="489079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Challenge</a:t>
            </a:r>
            <a:r>
              <a:rPr lang="en-US" sz="2400" dirty="0"/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2"/>
                </a:solidFill>
              </a:rPr>
              <a:t>Sparse Rewards </a:t>
            </a:r>
            <a:r>
              <a:rPr lang="en-US" sz="2400" dirty="0"/>
              <a:t>(+10 | -10 | 0) in adversarial continuous control task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Method</a:t>
            </a:r>
            <a:r>
              <a:rPr lang="en-US" sz="2400" dirty="0"/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2"/>
                </a:solidFill>
              </a:rPr>
              <a:t>DreamerV3</a:t>
            </a:r>
            <a:r>
              <a:rPr lang="en-US" sz="2400" dirty="0"/>
              <a:t> with Self-Play PFSP and curated opponent league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2AB3272-AB6D-25CB-7226-FE2250BB33B4}"/>
              </a:ext>
            </a:extLst>
          </p:cNvPr>
          <p:cNvSpPr/>
          <p:nvPr/>
        </p:nvSpPr>
        <p:spPr>
          <a:xfrm>
            <a:off x="939282" y="6066776"/>
            <a:ext cx="11209175" cy="61582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Core Message</a:t>
            </a:r>
            <a:r>
              <a:rPr lang="en-US" dirty="0"/>
              <a:t>: Robustness under Opponent Diversity is the main objective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73E477A-0FEB-E47B-9CCC-F1DDB69E3077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8736563" y="3377682"/>
            <a:ext cx="54117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2C49D44-885F-1911-1749-945DC5B05512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10248123" y="3834882"/>
            <a:ext cx="0" cy="3317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517EDD1-D7A6-ED23-A568-CB7B515E6982}"/>
              </a:ext>
            </a:extLst>
          </p:cNvPr>
          <p:cNvCxnSpPr>
            <a:cxnSpLocks/>
            <a:stCxn id="9" idx="1"/>
            <a:endCxn id="8" idx="3"/>
          </p:cNvCxnSpPr>
          <p:nvPr/>
        </p:nvCxnSpPr>
        <p:spPr>
          <a:xfrm flipH="1">
            <a:off x="8736563" y="4623851"/>
            <a:ext cx="54117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4040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3926E-D536-41DF-91FE-5068B81CE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B2A3521-CB1E-DCD6-70C9-9D5717B2F135}"/>
              </a:ext>
            </a:extLst>
          </p:cNvPr>
          <p:cNvSpPr/>
          <p:nvPr/>
        </p:nvSpPr>
        <p:spPr>
          <a:xfrm>
            <a:off x="838201" y="1690688"/>
            <a:ext cx="5257800" cy="4609837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472E90-5082-5E62-A134-FF518FE7A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Setup </a:t>
            </a:r>
            <a:r>
              <a:rPr lang="en-US" dirty="0"/>
              <a:t>and </a:t>
            </a:r>
            <a:r>
              <a:rPr lang="en-US" b="1" dirty="0"/>
              <a:t>Success Criteria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002F725-C93E-372A-A1BE-4595B9B4509A}"/>
              </a:ext>
            </a:extLst>
          </p:cNvPr>
          <p:cNvSpPr/>
          <p:nvPr/>
        </p:nvSpPr>
        <p:spPr>
          <a:xfrm>
            <a:off x="7599999" y="2509869"/>
            <a:ext cx="3348069" cy="1318621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Fixed-Opponent Competence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6E5DF16-F69C-627F-50B8-59086F919F4B}"/>
              </a:ext>
            </a:extLst>
          </p:cNvPr>
          <p:cNvSpPr/>
          <p:nvPr/>
        </p:nvSpPr>
        <p:spPr>
          <a:xfrm>
            <a:off x="7600000" y="4074593"/>
            <a:ext cx="3348069" cy="1318621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Cross-Play Robustness</a:t>
            </a:r>
          </a:p>
        </p:txBody>
      </p:sp>
      <p:pic>
        <p:nvPicPr>
          <p:cNvPr id="8" name="Graphic 7" descr="Add outline">
            <a:extLst>
              <a:ext uri="{FF2B5EF4-FFF2-40B4-BE49-F238E27FC236}">
                <a16:creationId xmlns:a16="http://schemas.microsoft.com/office/drawing/2014/main" id="{10A4B753-F15C-4D4A-50B1-D5F545A9A6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45743" y="5191000"/>
            <a:ext cx="914400" cy="914400"/>
          </a:xfrm>
          <a:prstGeom prst="rect">
            <a:avLst/>
          </a:prstGeom>
        </p:spPr>
      </p:pic>
      <p:pic>
        <p:nvPicPr>
          <p:cNvPr id="10" name="Graphic 9" descr="Close outline">
            <a:extLst>
              <a:ext uri="{FF2B5EF4-FFF2-40B4-BE49-F238E27FC236}">
                <a16:creationId xmlns:a16="http://schemas.microsoft.com/office/drawing/2014/main" id="{B442B328-364E-B571-3876-D9E13BCAB0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45743" y="5191000"/>
            <a:ext cx="914400" cy="914400"/>
          </a:xfrm>
          <a:prstGeom prst="rect">
            <a:avLst/>
          </a:prstGeom>
        </p:spPr>
      </p:pic>
      <p:pic>
        <p:nvPicPr>
          <p:cNvPr id="14" name="Graphic 13" descr="Trophy outline">
            <a:extLst>
              <a:ext uri="{FF2B5EF4-FFF2-40B4-BE49-F238E27FC236}">
                <a16:creationId xmlns:a16="http://schemas.microsoft.com/office/drawing/2014/main" id="{F1F0858E-D425-71A9-A5A4-B922E3D6DA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99998" y="1685869"/>
            <a:ext cx="914400" cy="914400"/>
          </a:xfrm>
          <a:prstGeom prst="rect">
            <a:avLst/>
          </a:prstGeom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5BA4E50-E79E-71BA-4F81-7C4D33351DE4}"/>
              </a:ext>
            </a:extLst>
          </p:cNvPr>
          <p:cNvSpPr/>
          <p:nvPr/>
        </p:nvSpPr>
        <p:spPr>
          <a:xfrm>
            <a:off x="1057864" y="2194735"/>
            <a:ext cx="4773799" cy="6107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Observation</a:t>
            </a:r>
            <a:r>
              <a:rPr lang="en-US" dirty="0"/>
              <a:t> Space: 18D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A54CECE-C28E-CC7F-60EA-60AAE3010D6F}"/>
              </a:ext>
            </a:extLst>
          </p:cNvPr>
          <p:cNvSpPr/>
          <p:nvPr/>
        </p:nvSpPr>
        <p:spPr>
          <a:xfrm>
            <a:off x="1057860" y="2896474"/>
            <a:ext cx="4773799" cy="6107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Action</a:t>
            </a:r>
            <a:r>
              <a:rPr lang="en-US" dirty="0"/>
              <a:t> </a:t>
            </a:r>
            <a:r>
              <a:rPr lang="en-US" b="1" dirty="0"/>
              <a:t>Space</a:t>
            </a:r>
            <a:r>
              <a:rPr lang="en-US" dirty="0"/>
              <a:t>: 4D Continuous per Player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5922FC0-BDE6-B46D-E4DB-7B973191BE6F}"/>
              </a:ext>
            </a:extLst>
          </p:cNvPr>
          <p:cNvSpPr/>
          <p:nvPr/>
        </p:nvSpPr>
        <p:spPr>
          <a:xfrm>
            <a:off x="2238703" y="3937288"/>
            <a:ext cx="3592956" cy="895482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Reward</a:t>
            </a:r>
            <a:r>
              <a:rPr lang="en-US" dirty="0"/>
              <a:t>: +10 score, -10 concede, 0 otherwise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A4D936D-1BCA-80FE-6EDC-42367DFF8141}"/>
              </a:ext>
            </a:extLst>
          </p:cNvPr>
          <p:cNvSpPr/>
          <p:nvPr/>
        </p:nvSpPr>
        <p:spPr>
          <a:xfrm>
            <a:off x="1057859" y="4945473"/>
            <a:ext cx="3816839" cy="8954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Difficulty</a:t>
            </a:r>
            <a:r>
              <a:rPr lang="en-US" dirty="0"/>
              <a:t>: Sparse Terminal-like signal + adversarial dynamics</a:t>
            </a:r>
          </a:p>
        </p:txBody>
      </p:sp>
      <p:pic>
        <p:nvPicPr>
          <p:cNvPr id="23" name="Graphic 22" descr="Coins outline">
            <a:extLst>
              <a:ext uri="{FF2B5EF4-FFF2-40B4-BE49-F238E27FC236}">
                <a16:creationId xmlns:a16="http://schemas.microsoft.com/office/drawing/2014/main" id="{23DA2A1E-D142-61C8-7978-2335362814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29504" y="3927829"/>
            <a:ext cx="914400" cy="914400"/>
          </a:xfrm>
          <a:prstGeom prst="rect">
            <a:avLst/>
          </a:prstGeom>
        </p:spPr>
      </p:pic>
      <p:pic>
        <p:nvPicPr>
          <p:cNvPr id="25" name="Graphic 24" descr="Medieval tower outline">
            <a:extLst>
              <a:ext uri="{FF2B5EF4-FFF2-40B4-BE49-F238E27FC236}">
                <a16:creationId xmlns:a16="http://schemas.microsoft.com/office/drawing/2014/main" id="{FFFA721A-8A5A-DE44-DDE3-26C24916F26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874698" y="4926555"/>
            <a:ext cx="914400" cy="914400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9FFBBE3-C3FF-B7D7-EF96-540CF3A8A342}"/>
              </a:ext>
            </a:extLst>
          </p:cNvPr>
          <p:cNvCxnSpPr/>
          <p:nvPr/>
        </p:nvCxnSpPr>
        <p:spPr>
          <a:xfrm>
            <a:off x="6835928" y="1493633"/>
            <a:ext cx="0" cy="4887310"/>
          </a:xfrm>
          <a:prstGeom prst="line">
            <a:avLst/>
          </a:prstGeom>
          <a:ln w="25400"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0694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B6901-B192-D0B1-40E3-EAFE07E68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4468C-0E66-AD43-9BD7-32504465D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900"/>
            <a:ext cx="10515600" cy="844484"/>
          </a:xfrm>
        </p:spPr>
        <p:txBody>
          <a:bodyPr>
            <a:normAutofit/>
          </a:bodyPr>
          <a:lstStyle/>
          <a:p>
            <a:r>
              <a:rPr lang="en-US" sz="4000" b="1" dirty="0"/>
              <a:t>Method</a:t>
            </a:r>
            <a:r>
              <a:rPr lang="en-US" sz="4000" dirty="0"/>
              <a:t>: DreamerV3 + Sparse Reward Adaptation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6E7D69E-E303-B5FC-0316-FCB16BBF6F30}"/>
              </a:ext>
            </a:extLst>
          </p:cNvPr>
          <p:cNvSpPr/>
          <p:nvPr/>
        </p:nvSpPr>
        <p:spPr>
          <a:xfrm>
            <a:off x="691318" y="801063"/>
            <a:ext cx="10443604" cy="15448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b="1" dirty="0"/>
              <a:t>World Model (RSSM): Encoder + Dynamics + Reward/Continue Prediction</a:t>
            </a:r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D5D92D3-8B94-2043-D64D-9F158164A8B5}"/>
              </a:ext>
            </a:extLst>
          </p:cNvPr>
          <p:cNvSpPr/>
          <p:nvPr/>
        </p:nvSpPr>
        <p:spPr>
          <a:xfrm>
            <a:off x="1172955" y="1305472"/>
            <a:ext cx="2465726" cy="821154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Encoder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04ECE7E-9A99-5D1E-8939-6FD7623A03CD}"/>
              </a:ext>
            </a:extLst>
          </p:cNvPr>
          <p:cNvSpPr/>
          <p:nvPr/>
        </p:nvSpPr>
        <p:spPr>
          <a:xfrm>
            <a:off x="4680257" y="1305472"/>
            <a:ext cx="2465726" cy="821154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Dynamics (RSSM)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7491A81-3703-D9C6-D695-D943C95D14C7}"/>
              </a:ext>
            </a:extLst>
          </p:cNvPr>
          <p:cNvSpPr/>
          <p:nvPr/>
        </p:nvSpPr>
        <p:spPr>
          <a:xfrm>
            <a:off x="8187559" y="1305472"/>
            <a:ext cx="2465726" cy="821154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Reward/Continue Prediction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3A021C8-8D30-AAD2-2DB8-90DD8BB65561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3638681" y="1716049"/>
            <a:ext cx="1041576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76F7881-8873-3652-ABFD-9AC6BE293861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7145983" y="1716049"/>
            <a:ext cx="1041576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FB8EB0A-B16E-805B-A5F1-82FF554160BE}"/>
              </a:ext>
            </a:extLst>
          </p:cNvPr>
          <p:cNvSpPr/>
          <p:nvPr/>
        </p:nvSpPr>
        <p:spPr>
          <a:xfrm>
            <a:off x="882869" y="3279993"/>
            <a:ext cx="8492096" cy="1945289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b="1" dirty="0"/>
              <a:t>Imagination Rollouts --- Actor/Critic Optimization</a:t>
            </a:r>
            <a:endParaRPr lang="en-US" dirty="0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AA1F645-BFBC-C728-5469-75549724E54B}"/>
              </a:ext>
            </a:extLst>
          </p:cNvPr>
          <p:cNvSpPr/>
          <p:nvPr/>
        </p:nvSpPr>
        <p:spPr>
          <a:xfrm>
            <a:off x="951132" y="3849762"/>
            <a:ext cx="3574098" cy="1004148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000" dirty="0">
                <a:solidFill>
                  <a:schemeClr val="tx1"/>
                </a:solidFill>
              </a:rPr>
              <a:t>Imagination Rollouts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71C736E-2D21-3441-CB3F-7B46A2AAB202}"/>
              </a:ext>
            </a:extLst>
          </p:cNvPr>
          <p:cNvSpPr/>
          <p:nvPr/>
        </p:nvSpPr>
        <p:spPr>
          <a:xfrm>
            <a:off x="5135563" y="3849762"/>
            <a:ext cx="4120844" cy="1004148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Actor/Critic Optimization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3518857-872D-F131-2020-4DBF7D0D04D0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>
            <a:off x="4525230" y="4351836"/>
            <a:ext cx="61033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6" name="Curved Connector 25">
            <a:extLst>
              <a:ext uri="{FF2B5EF4-FFF2-40B4-BE49-F238E27FC236}">
                <a16:creationId xmlns:a16="http://schemas.microsoft.com/office/drawing/2014/main" id="{DC8F4B61-DB16-4F49-B6C4-1EABFEC0A2FC}"/>
              </a:ext>
            </a:extLst>
          </p:cNvPr>
          <p:cNvCxnSpPr>
            <a:cxnSpLocks/>
            <a:stCxn id="6" idx="1"/>
            <a:endCxn id="17" idx="1"/>
          </p:cNvCxnSpPr>
          <p:nvPr/>
        </p:nvCxnSpPr>
        <p:spPr>
          <a:xfrm rot="10800000" flipH="1" flipV="1">
            <a:off x="691318" y="1573486"/>
            <a:ext cx="259814" cy="2778350"/>
          </a:xfrm>
          <a:prstGeom prst="bentConnector3">
            <a:avLst>
              <a:gd name="adj1" fmla="val -87986"/>
            </a:avLst>
          </a:prstGeom>
          <a:ln w="63500"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354FBB5F-8E68-3383-BDB6-835D7C08926B}"/>
              </a:ext>
            </a:extLst>
          </p:cNvPr>
          <p:cNvSpPr/>
          <p:nvPr/>
        </p:nvSpPr>
        <p:spPr>
          <a:xfrm>
            <a:off x="968002" y="2546064"/>
            <a:ext cx="5341357" cy="603838"/>
          </a:xfrm>
          <a:prstGeom prst="roundRect">
            <a:avLst/>
          </a:prstGeom>
          <a:solidFill>
            <a:schemeClr val="bg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Policy learns from imagination, not just from env gradients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5527AD67-A952-0483-D819-04E618BB66BE}"/>
              </a:ext>
            </a:extLst>
          </p:cNvPr>
          <p:cNvSpPr/>
          <p:nvPr/>
        </p:nvSpPr>
        <p:spPr>
          <a:xfrm>
            <a:off x="920362" y="5413095"/>
            <a:ext cx="1817819" cy="1013836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Two-Hot </a:t>
            </a:r>
            <a:r>
              <a:rPr lang="en-US" sz="2000" dirty="0" err="1">
                <a:solidFill>
                  <a:schemeClr val="tx1"/>
                </a:solidFill>
              </a:rPr>
              <a:t>Symlog</a:t>
            </a:r>
            <a:r>
              <a:rPr lang="en-US" sz="2000" dirty="0">
                <a:solidFill>
                  <a:schemeClr val="tx1"/>
                </a:solidFill>
              </a:rPr>
              <a:t> Heads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E0F0CB52-A75D-FB2C-EBC9-6382C2752238}"/>
              </a:ext>
            </a:extLst>
          </p:cNvPr>
          <p:cNvSpPr/>
          <p:nvPr/>
        </p:nvSpPr>
        <p:spPr>
          <a:xfrm>
            <a:off x="2818716" y="5447326"/>
            <a:ext cx="2212981" cy="945374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</a:rPr>
              <a:t>DreamSmooth</a:t>
            </a:r>
            <a:r>
              <a:rPr lang="en-US" sz="2000" dirty="0">
                <a:solidFill>
                  <a:schemeClr val="tx1"/>
                </a:solidFill>
              </a:rPr>
              <a:t> Temporal Reward </a:t>
            </a:r>
            <a:r>
              <a:rPr lang="en-US" sz="2000" dirty="0" err="1">
                <a:solidFill>
                  <a:schemeClr val="tx1"/>
                </a:solidFill>
              </a:rPr>
              <a:t>Smoothin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53574EE9-6253-BB46-693A-94A7DCE08BE1}"/>
              </a:ext>
            </a:extLst>
          </p:cNvPr>
          <p:cNvSpPr/>
          <p:nvPr/>
        </p:nvSpPr>
        <p:spPr>
          <a:xfrm>
            <a:off x="5112232" y="5447326"/>
            <a:ext cx="2447388" cy="945374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Sparse-Event Reward-Loss Weighting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D33DCF20-50C7-DD32-CA32-BAFEED8A41DE}"/>
              </a:ext>
            </a:extLst>
          </p:cNvPr>
          <p:cNvSpPr/>
          <p:nvPr/>
        </p:nvSpPr>
        <p:spPr>
          <a:xfrm>
            <a:off x="7640155" y="5447326"/>
            <a:ext cx="2447388" cy="945374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PFSP Opponent Sampling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B705E1D3-B1AF-96E5-2722-6FB6A421F0F1}"/>
              </a:ext>
            </a:extLst>
          </p:cNvPr>
          <p:cNvSpPr/>
          <p:nvPr/>
        </p:nvSpPr>
        <p:spPr>
          <a:xfrm>
            <a:off x="9566517" y="3585669"/>
            <a:ext cx="2447355" cy="1333936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Goal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Stable Credit Assignment under sparse + </a:t>
            </a:r>
            <a:r>
              <a:rPr lang="en-US" sz="1600" dirty="0" err="1">
                <a:solidFill>
                  <a:schemeClr val="tx1"/>
                </a:solidFill>
              </a:rPr>
              <a:t>averserial</a:t>
            </a:r>
            <a:r>
              <a:rPr lang="en-US" sz="1600" dirty="0">
                <a:solidFill>
                  <a:schemeClr val="tx1"/>
                </a:solidFill>
              </a:rPr>
              <a:t> feedback</a:t>
            </a:r>
          </a:p>
        </p:txBody>
      </p:sp>
      <p:pic>
        <p:nvPicPr>
          <p:cNvPr id="48" name="Graphic 47" descr="Thought bubble outline">
            <a:extLst>
              <a:ext uri="{FF2B5EF4-FFF2-40B4-BE49-F238E27FC236}">
                <a16:creationId xmlns:a16="http://schemas.microsoft.com/office/drawing/2014/main" id="{57E7D433-EF0F-7832-C850-B1D6FDF206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6190" y="3929239"/>
            <a:ext cx="914400" cy="914400"/>
          </a:xfrm>
          <a:prstGeom prst="rect">
            <a:avLst/>
          </a:prstGeom>
        </p:spPr>
      </p:pic>
      <p:pic>
        <p:nvPicPr>
          <p:cNvPr id="52" name="Graphic 51" descr="Downstairs outline">
            <a:extLst>
              <a:ext uri="{FF2B5EF4-FFF2-40B4-BE49-F238E27FC236}">
                <a16:creationId xmlns:a16="http://schemas.microsoft.com/office/drawing/2014/main" id="{3813F765-A2A4-1921-C680-79B4952810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63968" y="3884792"/>
            <a:ext cx="914400" cy="914400"/>
          </a:xfrm>
          <a:prstGeom prst="rect">
            <a:avLst/>
          </a:prstGeom>
        </p:spPr>
      </p:pic>
      <p:pic>
        <p:nvPicPr>
          <p:cNvPr id="71" name="Graphic 70" descr="Bullseye outline">
            <a:extLst>
              <a:ext uri="{FF2B5EF4-FFF2-40B4-BE49-F238E27FC236}">
                <a16:creationId xmlns:a16="http://schemas.microsoft.com/office/drawing/2014/main" id="{58F19296-5B27-B7BC-CB5A-7ABA9C99B61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38885" y="292792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053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8C7672-6818-863D-8D76-838781A83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2F197-4A0A-5CD8-6EB0-18DE2C0F8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755" y="186664"/>
            <a:ext cx="10433094" cy="768411"/>
          </a:xfrm>
        </p:spPr>
        <p:txBody>
          <a:bodyPr/>
          <a:lstStyle/>
          <a:p>
            <a:r>
              <a:rPr lang="en-US" b="1" dirty="0"/>
              <a:t>Training Curriculum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644DB3E-74A2-516A-CF2C-2A7DF37A28B2}"/>
              </a:ext>
            </a:extLst>
          </p:cNvPr>
          <p:cNvSpPr/>
          <p:nvPr/>
        </p:nvSpPr>
        <p:spPr>
          <a:xfrm>
            <a:off x="710471" y="893761"/>
            <a:ext cx="11145247" cy="5708838"/>
          </a:xfrm>
          <a:prstGeom prst="roundRect">
            <a:avLst/>
          </a:prstGeom>
          <a:solidFill>
            <a:schemeClr val="bg2">
              <a:alpha val="2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033D586-7D4B-27F6-22A7-933C665DA03D}"/>
              </a:ext>
            </a:extLst>
          </p:cNvPr>
          <p:cNvSpPr/>
          <p:nvPr/>
        </p:nvSpPr>
        <p:spPr>
          <a:xfrm>
            <a:off x="1484259" y="4817246"/>
            <a:ext cx="2503564" cy="15245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44699B8-98B5-09EB-2DDF-948CD83C6F69}"/>
              </a:ext>
            </a:extLst>
          </p:cNvPr>
          <p:cNvSpPr/>
          <p:nvPr/>
        </p:nvSpPr>
        <p:spPr>
          <a:xfrm>
            <a:off x="4397964" y="3481022"/>
            <a:ext cx="2503564" cy="15245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1FB970E-9C4B-2B24-5934-D6EF414B8814}"/>
              </a:ext>
            </a:extLst>
          </p:cNvPr>
          <p:cNvSpPr/>
          <p:nvPr/>
        </p:nvSpPr>
        <p:spPr>
          <a:xfrm>
            <a:off x="7274078" y="2092533"/>
            <a:ext cx="4289450" cy="2672933"/>
          </a:xfrm>
          <a:prstGeom prst="roundRect">
            <a:avLst/>
          </a:prstGeom>
          <a:solidFill>
            <a:srgbClr val="3D363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 descr="Robot with solid fill">
            <a:extLst>
              <a:ext uri="{FF2B5EF4-FFF2-40B4-BE49-F238E27FC236}">
                <a16:creationId xmlns:a16="http://schemas.microsoft.com/office/drawing/2014/main" id="{FB77E8F4-6290-8EA5-AA9F-A5173B4469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33771" y="5053725"/>
            <a:ext cx="914400" cy="914400"/>
          </a:xfrm>
          <a:prstGeom prst="rect">
            <a:avLst/>
          </a:prstGeom>
        </p:spPr>
      </p:pic>
      <p:pic>
        <p:nvPicPr>
          <p:cNvPr id="16" name="Graphic 15" descr="Robot outline">
            <a:extLst>
              <a:ext uri="{FF2B5EF4-FFF2-40B4-BE49-F238E27FC236}">
                <a16:creationId xmlns:a16="http://schemas.microsoft.com/office/drawing/2014/main" id="{B4E69CD1-0F9B-289D-2A22-EDE5582D85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00571" y="5206125"/>
            <a:ext cx="914400" cy="914400"/>
          </a:xfrm>
          <a:prstGeom prst="rect">
            <a:avLst/>
          </a:prstGeom>
        </p:spPr>
      </p:pic>
      <p:pic>
        <p:nvPicPr>
          <p:cNvPr id="15" name="Graphic 14" descr="Robot outline">
            <a:extLst>
              <a:ext uri="{FF2B5EF4-FFF2-40B4-BE49-F238E27FC236}">
                <a16:creationId xmlns:a16="http://schemas.microsoft.com/office/drawing/2014/main" id="{BC3925B0-0CE0-0A23-58F4-28178F7F33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70514" y="4338060"/>
            <a:ext cx="479186" cy="479186"/>
          </a:xfrm>
          <a:prstGeom prst="rect">
            <a:avLst/>
          </a:prstGeom>
        </p:spPr>
      </p:pic>
      <p:pic>
        <p:nvPicPr>
          <p:cNvPr id="17" name="Graphic 16" descr="Robot outline">
            <a:extLst>
              <a:ext uri="{FF2B5EF4-FFF2-40B4-BE49-F238E27FC236}">
                <a16:creationId xmlns:a16="http://schemas.microsoft.com/office/drawing/2014/main" id="{A026C38F-FBB0-F3CD-4E5E-7D2C3372BB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15176" y="3915070"/>
            <a:ext cx="714015" cy="714015"/>
          </a:xfrm>
          <a:prstGeom prst="rect">
            <a:avLst/>
          </a:prstGeom>
        </p:spPr>
      </p:pic>
      <p:pic>
        <p:nvPicPr>
          <p:cNvPr id="18" name="Graphic 17" descr="Robot outline">
            <a:extLst>
              <a:ext uri="{FF2B5EF4-FFF2-40B4-BE49-F238E27FC236}">
                <a16:creationId xmlns:a16="http://schemas.microsoft.com/office/drawing/2014/main" id="{981FC7A7-A2AE-9B84-4097-0AEA1A34A7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54309" y="3570145"/>
            <a:ext cx="857573" cy="857573"/>
          </a:xfrm>
          <a:prstGeom prst="rect">
            <a:avLst/>
          </a:prstGeom>
        </p:spPr>
      </p:pic>
      <p:pic>
        <p:nvPicPr>
          <p:cNvPr id="21" name="Picture 20" descr="A chart of a graph with different colored faces&#10;&#10;AI-generated content may be incorrect.">
            <a:extLst>
              <a:ext uri="{FF2B5EF4-FFF2-40B4-BE49-F238E27FC236}">
                <a16:creationId xmlns:a16="http://schemas.microsoft.com/office/drawing/2014/main" id="{830D8B14-807F-8BB8-13A3-D9C6E24E4C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4648" y="2458023"/>
            <a:ext cx="3680201" cy="192441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9D8F621-C886-2B1C-09EB-692D1188745F}"/>
              </a:ext>
            </a:extLst>
          </p:cNvPr>
          <p:cNvSpPr txBox="1"/>
          <p:nvPr/>
        </p:nvSpPr>
        <p:spPr>
          <a:xfrm>
            <a:off x="1744631" y="3857059"/>
            <a:ext cx="19828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Phase </a:t>
            </a:r>
            <a:r>
              <a:rPr lang="en-US" b="1" dirty="0"/>
              <a:t>A</a:t>
            </a:r>
            <a:r>
              <a:rPr lang="en-US" dirty="0"/>
              <a:t>: Anchor Competence (~20%)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5AF333-AC7C-7C06-04D7-6B85D0F93614}"/>
              </a:ext>
            </a:extLst>
          </p:cNvPr>
          <p:cNvSpPr txBox="1"/>
          <p:nvPr/>
        </p:nvSpPr>
        <p:spPr>
          <a:xfrm>
            <a:off x="4580773" y="2557692"/>
            <a:ext cx="19828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Phase </a:t>
            </a:r>
            <a:r>
              <a:rPr lang="en-US" b="1" dirty="0"/>
              <a:t>B</a:t>
            </a:r>
            <a:r>
              <a:rPr lang="en-US" dirty="0"/>
              <a:t>: </a:t>
            </a:r>
          </a:p>
          <a:p>
            <a:pPr algn="ctr"/>
            <a:r>
              <a:rPr lang="en-US" dirty="0"/>
              <a:t>Self-Play (~20%)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383BC75-916D-5C76-1B95-B98467C0DA5D}"/>
              </a:ext>
            </a:extLst>
          </p:cNvPr>
          <p:cNvSpPr txBox="1"/>
          <p:nvPr/>
        </p:nvSpPr>
        <p:spPr>
          <a:xfrm>
            <a:off x="8082285" y="1383594"/>
            <a:ext cx="26730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Phase </a:t>
            </a:r>
            <a:r>
              <a:rPr lang="en-US" b="1" dirty="0"/>
              <a:t>C</a:t>
            </a:r>
            <a:r>
              <a:rPr lang="en-US" dirty="0"/>
              <a:t>: Curated League Self-Play (~60%)</a:t>
            </a:r>
          </a:p>
        </p:txBody>
      </p:sp>
      <p:cxnSp>
        <p:nvCxnSpPr>
          <p:cNvPr id="26" name="Curved Connector 25">
            <a:extLst>
              <a:ext uri="{FF2B5EF4-FFF2-40B4-BE49-F238E27FC236}">
                <a16:creationId xmlns:a16="http://schemas.microsoft.com/office/drawing/2014/main" id="{DC272286-5C06-45BC-8687-CA3AFD8CC34E}"/>
              </a:ext>
            </a:extLst>
          </p:cNvPr>
          <p:cNvCxnSpPr>
            <a:cxnSpLocks/>
          </p:cNvCxnSpPr>
          <p:nvPr/>
        </p:nvCxnSpPr>
        <p:spPr>
          <a:xfrm flipV="1">
            <a:off x="710471" y="1044198"/>
            <a:ext cx="6271416" cy="2788686"/>
          </a:xfrm>
          <a:prstGeom prst="curvedConnector3">
            <a:avLst/>
          </a:prstGeom>
          <a:ln w="508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E13E286-E8D7-A261-B68A-5B9ACE4AFD66}"/>
              </a:ext>
            </a:extLst>
          </p:cNvPr>
          <p:cNvSpPr txBox="1"/>
          <p:nvPr/>
        </p:nvSpPr>
        <p:spPr>
          <a:xfrm>
            <a:off x="1889227" y="2696191"/>
            <a:ext cx="1468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Performance</a:t>
            </a:r>
          </a:p>
        </p:txBody>
      </p:sp>
    </p:spTree>
    <p:extLst>
      <p:ext uri="{BB962C8B-B14F-4D97-AF65-F5344CB8AC3E}">
        <p14:creationId xmlns:p14="http://schemas.microsoft.com/office/powerpoint/2010/main" val="1989012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AB509-0EE7-C803-649F-3BB28D153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BCA9C-58EC-C998-2BDF-1860B65C7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Self-Play and League Curation Pipeline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1F637BD-A6F5-BF23-3982-0AA787DDA537}"/>
              </a:ext>
            </a:extLst>
          </p:cNvPr>
          <p:cNvSpPr/>
          <p:nvPr/>
        </p:nvSpPr>
        <p:spPr>
          <a:xfrm>
            <a:off x="1172955" y="1690688"/>
            <a:ext cx="1683757" cy="16333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Collect Diverse Candidate Checkpoints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1D02F32-6CDB-E31A-F367-5BA7CF56E6D1}"/>
              </a:ext>
            </a:extLst>
          </p:cNvPr>
          <p:cNvSpPr/>
          <p:nvPr/>
        </p:nvSpPr>
        <p:spPr>
          <a:xfrm>
            <a:off x="3091093" y="1690688"/>
            <a:ext cx="1683757" cy="16333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Summit Matrix Evaluation</a:t>
            </a:r>
          </a:p>
          <a:p>
            <a:pPr algn="ctr"/>
            <a:r>
              <a:rPr lang="en-US" dirty="0"/>
              <a:t>(vs. bots &amp; checkpoints)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F82F6B9-641F-0E2F-0A86-E889764AC3D7}"/>
              </a:ext>
            </a:extLst>
          </p:cNvPr>
          <p:cNvSpPr/>
          <p:nvPr/>
        </p:nvSpPr>
        <p:spPr>
          <a:xfrm>
            <a:off x="5009231" y="1690688"/>
            <a:ext cx="1683757" cy="16333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Score Robustness</a:t>
            </a:r>
          </a:p>
          <a:p>
            <a:pPr algn="ctr"/>
            <a:r>
              <a:rPr lang="en-US" dirty="0"/>
              <a:t>(worst-case, etc.)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A021BD1-47C7-2156-2CFB-0B8515ABF10E}"/>
              </a:ext>
            </a:extLst>
          </p:cNvPr>
          <p:cNvSpPr/>
          <p:nvPr/>
        </p:nvSpPr>
        <p:spPr>
          <a:xfrm>
            <a:off x="6927369" y="1690688"/>
            <a:ext cx="1683757" cy="16333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Greedy Quality + Diversity Selection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26814A3-ACCE-DD95-07CA-36F03FE03D05}"/>
              </a:ext>
            </a:extLst>
          </p:cNvPr>
          <p:cNvSpPr/>
          <p:nvPr/>
        </p:nvSpPr>
        <p:spPr>
          <a:xfrm>
            <a:off x="8845507" y="1638186"/>
            <a:ext cx="2173538" cy="17383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Create Weight-Map for all League Checkpoints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0DD9EA0-51FB-73D5-0000-0A41E7148CD9}"/>
              </a:ext>
            </a:extLst>
          </p:cNvPr>
          <p:cNvSpPr/>
          <p:nvPr/>
        </p:nvSpPr>
        <p:spPr>
          <a:xfrm>
            <a:off x="8845507" y="3644611"/>
            <a:ext cx="2173538" cy="1738312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Output</a:t>
            </a:r>
            <a:r>
              <a:rPr lang="en-US" dirty="0"/>
              <a:t>:</a:t>
            </a:r>
          </a:p>
          <a:p>
            <a:pPr algn="ctr"/>
            <a:r>
              <a:rPr lang="en-US" dirty="0"/>
              <a:t>Curated League Pool for Final Training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1D861D8-B253-1169-BCEB-F5FDAFBA2794}"/>
              </a:ext>
            </a:extLst>
          </p:cNvPr>
          <p:cNvSpPr/>
          <p:nvPr/>
        </p:nvSpPr>
        <p:spPr>
          <a:xfrm>
            <a:off x="5193460" y="4523991"/>
            <a:ext cx="2846990" cy="1896284"/>
          </a:xfrm>
          <a:prstGeom prst="roundRect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Diversity</a:t>
            </a:r>
          </a:p>
          <a:p>
            <a:pPr algn="ctr"/>
            <a:r>
              <a:rPr lang="en-US" dirty="0"/>
              <a:t>Avoid redundant policies and maximize behavioral coverage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2EFDD79-D384-BA68-4D4B-A40CF2DA153C}"/>
              </a:ext>
            </a:extLst>
          </p:cNvPr>
          <p:cNvSpPr/>
          <p:nvPr/>
        </p:nvSpPr>
        <p:spPr>
          <a:xfrm>
            <a:off x="2096718" y="4523991"/>
            <a:ext cx="2846990" cy="1896284"/>
          </a:xfrm>
          <a:prstGeom prst="roundRect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Quality</a:t>
            </a:r>
          </a:p>
          <a:p>
            <a:pPr algn="ctr"/>
            <a:r>
              <a:rPr lang="en-US" dirty="0"/>
              <a:t>High robust cross-play against diverse opponents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74EA80D-0249-C2D8-344E-BA30D6547FEF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2856712" y="2507342"/>
            <a:ext cx="234381" cy="0"/>
          </a:xfrm>
          <a:prstGeom prst="straightConnector1">
            <a:avLst/>
          </a:prstGeom>
          <a:ln w="50800"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BF278D1-B1C9-6865-F140-25BBA7302F41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4774850" y="2507342"/>
            <a:ext cx="234381" cy="0"/>
          </a:xfrm>
          <a:prstGeom prst="straightConnector1">
            <a:avLst/>
          </a:prstGeom>
          <a:ln w="50800"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24317E1-727E-4366-4AD6-BA6AB6DBEF5D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6692988" y="2507342"/>
            <a:ext cx="234381" cy="0"/>
          </a:xfrm>
          <a:prstGeom prst="straightConnector1">
            <a:avLst/>
          </a:prstGeom>
          <a:ln w="50800"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18DAB54-46D4-94CA-8126-F52947DB2AEE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8611126" y="2507342"/>
            <a:ext cx="234381" cy="0"/>
          </a:xfrm>
          <a:prstGeom prst="straightConnector1">
            <a:avLst/>
          </a:prstGeom>
          <a:ln w="50800"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2D50DEF-3043-229D-BD2B-603A58BDDF30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9932276" y="3376498"/>
            <a:ext cx="0" cy="268113"/>
          </a:xfrm>
          <a:prstGeom prst="straightConnector1">
            <a:avLst/>
          </a:prstGeom>
          <a:ln w="50800"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0E7A832-BB51-29BD-FC1C-BDFE2694A015}"/>
              </a:ext>
            </a:extLst>
          </p:cNvPr>
          <p:cNvSpPr txBox="1"/>
          <p:nvPr/>
        </p:nvSpPr>
        <p:spPr>
          <a:xfrm>
            <a:off x="4609171" y="4059045"/>
            <a:ext cx="914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Ensure</a:t>
            </a:r>
          </a:p>
        </p:txBody>
      </p: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BD8D96B2-372B-F0BA-5CB0-FFB0550E7A1C}"/>
              </a:ext>
            </a:extLst>
          </p:cNvPr>
          <p:cNvCxnSpPr>
            <a:stCxn id="31" idx="1"/>
            <a:endCxn id="13" idx="0"/>
          </p:cNvCxnSpPr>
          <p:nvPr/>
        </p:nvCxnSpPr>
        <p:spPr>
          <a:xfrm rot="10800000" flipV="1">
            <a:off x="3520213" y="4243711"/>
            <a:ext cx="1088958" cy="280280"/>
          </a:xfrm>
          <a:prstGeom prst="bentConnector2">
            <a:avLst/>
          </a:prstGeom>
          <a:ln w="38100"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7BCB1295-969C-0BB1-B2F9-241D7FE6D45E}"/>
              </a:ext>
            </a:extLst>
          </p:cNvPr>
          <p:cNvCxnSpPr>
            <a:cxnSpLocks/>
            <a:stCxn id="31" idx="3"/>
            <a:endCxn id="12" idx="0"/>
          </p:cNvCxnSpPr>
          <p:nvPr/>
        </p:nvCxnSpPr>
        <p:spPr>
          <a:xfrm>
            <a:off x="5523845" y="4243711"/>
            <a:ext cx="1093110" cy="280280"/>
          </a:xfrm>
          <a:prstGeom prst="bentConnector2">
            <a:avLst/>
          </a:prstGeom>
          <a:ln w="38100"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9" name="Graphic 38" descr="Settings with solid fill">
            <a:extLst>
              <a:ext uri="{FF2B5EF4-FFF2-40B4-BE49-F238E27FC236}">
                <a16:creationId xmlns:a16="http://schemas.microsoft.com/office/drawing/2014/main" id="{DE4F0EB7-8928-72B7-5E27-A5D672895C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1871" y="4649559"/>
            <a:ext cx="493980" cy="493980"/>
          </a:xfrm>
          <a:prstGeom prst="rect">
            <a:avLst/>
          </a:prstGeom>
        </p:spPr>
      </p:pic>
      <p:pic>
        <p:nvPicPr>
          <p:cNvPr id="41" name="Graphic 40" descr="Clipboard Checked with solid fill">
            <a:extLst>
              <a:ext uri="{FF2B5EF4-FFF2-40B4-BE49-F238E27FC236}">
                <a16:creationId xmlns:a16="http://schemas.microsoft.com/office/drawing/2014/main" id="{DE6CF52E-E05F-649F-225B-D15BC1B7B2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72260" y="4523991"/>
            <a:ext cx="691085" cy="691085"/>
          </a:xfrm>
          <a:prstGeom prst="rect">
            <a:avLst/>
          </a:prstGeom>
        </p:spPr>
      </p:pic>
      <p:pic>
        <p:nvPicPr>
          <p:cNvPr id="43" name="Graphic 42" descr="Rating 3 Star with solid fill">
            <a:extLst>
              <a:ext uri="{FF2B5EF4-FFF2-40B4-BE49-F238E27FC236}">
                <a16:creationId xmlns:a16="http://schemas.microsoft.com/office/drawing/2014/main" id="{8236CBA3-6671-0162-9F1A-7684A94B79A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58861" y="425291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800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D3348-4D32-637C-F658-3C0248590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EC788-E269-5650-69DF-E2B5CC181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766" y="142101"/>
            <a:ext cx="10766502" cy="193202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Results</a:t>
            </a:r>
            <a:r>
              <a:rPr lang="en-US" dirty="0"/>
              <a:t>: Robust Selection Beats Single-Metric Picking</a:t>
            </a:r>
            <a:br>
              <a:rPr lang="en-US" dirty="0"/>
            </a:br>
            <a:r>
              <a:rPr lang="en-US" sz="2700" dirty="0"/>
              <a:t>Fixed-bot performance saturating | Cross-Play Metrics important to discriminate between checkpoints</a:t>
            </a:r>
            <a:endParaRPr lang="en-US" dirty="0"/>
          </a:p>
        </p:txBody>
      </p:sp>
      <p:pic>
        <p:nvPicPr>
          <p:cNvPr id="17" name="Picture 16" descr="A graph with green and orange text&#10;&#10;AI-generated content may be incorrect.">
            <a:extLst>
              <a:ext uri="{FF2B5EF4-FFF2-40B4-BE49-F238E27FC236}">
                <a16:creationId xmlns:a16="http://schemas.microsoft.com/office/drawing/2014/main" id="{83047200-6884-A86D-4005-B6577BD16B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9977"/>
          <a:stretch>
            <a:fillRect/>
          </a:stretch>
        </p:blipFill>
        <p:spPr>
          <a:xfrm>
            <a:off x="830766" y="2074127"/>
            <a:ext cx="8722112" cy="4541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073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5017B-E8B2-F516-F0AB-8DDE59438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C2454-45A3-5DCA-2603-6FC5F34F4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766" y="142101"/>
            <a:ext cx="10766502" cy="193202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Results</a:t>
            </a:r>
            <a:r>
              <a:rPr lang="en-US" dirty="0"/>
              <a:t>: Robust Selection Beats Single-Metric Picking</a:t>
            </a:r>
            <a:br>
              <a:rPr lang="en-US" dirty="0"/>
            </a:br>
            <a:r>
              <a:rPr lang="en-US" sz="2700" dirty="0"/>
              <a:t>Placed 16</a:t>
            </a:r>
            <a:r>
              <a:rPr lang="en-US" sz="2700" baseline="30000" dirty="0"/>
              <a:t>th</a:t>
            </a:r>
            <a:r>
              <a:rPr lang="en-US" sz="2700" dirty="0"/>
              <a:t> out of all agents in the final tournament.</a:t>
            </a:r>
            <a:br>
              <a:rPr lang="en-US" sz="2700" dirty="0"/>
            </a:br>
            <a:r>
              <a:rPr lang="en-US" sz="2700" dirty="0"/>
              <a:t>Placed 11</a:t>
            </a:r>
            <a:r>
              <a:rPr lang="en-US" sz="2700" baseline="30000" dirty="0"/>
              <a:t>th</a:t>
            </a:r>
            <a:r>
              <a:rPr lang="en-US" sz="2700" dirty="0"/>
              <a:t> out of all teams in the final tournament.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214A87-2C71-9F65-3C7D-BE6DC6754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31324"/>
            <a:ext cx="7772400" cy="685024"/>
          </a:xfrm>
          <a:prstGeom prst="rect">
            <a:avLst/>
          </a:prstGeom>
        </p:spPr>
      </p:pic>
      <p:pic>
        <p:nvPicPr>
          <p:cNvPr id="6" name="Graphic 5" descr="Robot with solid fill">
            <a:extLst>
              <a:ext uri="{FF2B5EF4-FFF2-40B4-BE49-F238E27FC236}">
                <a16:creationId xmlns:a16="http://schemas.microsoft.com/office/drawing/2014/main" id="{53BA90E5-2F79-F9CE-D7A8-B85B007C97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0766" y="3355554"/>
            <a:ext cx="914400" cy="914400"/>
          </a:xfrm>
          <a:prstGeom prst="rect">
            <a:avLst/>
          </a:prstGeom>
        </p:spPr>
      </p:pic>
      <p:pic>
        <p:nvPicPr>
          <p:cNvPr id="7" name="Graphic 6" descr="Robot outline">
            <a:extLst>
              <a:ext uri="{FF2B5EF4-FFF2-40B4-BE49-F238E27FC236}">
                <a16:creationId xmlns:a16="http://schemas.microsoft.com/office/drawing/2014/main" id="{6088CE57-AF2B-4A14-362B-FB85EB7103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0766" y="4636981"/>
            <a:ext cx="914400" cy="914400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A6BBB5B-1B7A-5941-5B63-EA5E51761A20}"/>
              </a:ext>
            </a:extLst>
          </p:cNvPr>
          <p:cNvSpPr/>
          <p:nvPr/>
        </p:nvSpPr>
        <p:spPr>
          <a:xfrm>
            <a:off x="3001002" y="3491495"/>
            <a:ext cx="3247398" cy="6850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100% Win-rate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0A7BB2A-F515-2F09-1F56-2A4DA6BE6C9F}"/>
              </a:ext>
            </a:extLst>
          </p:cNvPr>
          <p:cNvSpPr/>
          <p:nvPr/>
        </p:nvSpPr>
        <p:spPr>
          <a:xfrm>
            <a:off x="3001002" y="4772922"/>
            <a:ext cx="3247398" cy="6850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98% Win-rate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88F8A2-C296-A940-81B6-08E2A87C9561}"/>
              </a:ext>
            </a:extLst>
          </p:cNvPr>
          <p:cNvSpPr txBox="1"/>
          <p:nvPr/>
        </p:nvSpPr>
        <p:spPr>
          <a:xfrm>
            <a:off x="1617526" y="3649342"/>
            <a:ext cx="1129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Weak Bot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D0F477-5BD9-4F88-33C9-E7D031B3AD44}"/>
              </a:ext>
            </a:extLst>
          </p:cNvPr>
          <p:cNvSpPr txBox="1"/>
          <p:nvPr/>
        </p:nvSpPr>
        <p:spPr>
          <a:xfrm>
            <a:off x="1617526" y="4999871"/>
            <a:ext cx="1217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Strong Bot</a:t>
            </a:r>
          </a:p>
        </p:txBody>
      </p:sp>
      <p:sp>
        <p:nvSpPr>
          <p:cNvPr id="14" name="Bevel 13">
            <a:extLst>
              <a:ext uri="{FF2B5EF4-FFF2-40B4-BE49-F238E27FC236}">
                <a16:creationId xmlns:a16="http://schemas.microsoft.com/office/drawing/2014/main" id="{4906CEEB-2483-31A2-E172-28496556FFBE}"/>
              </a:ext>
            </a:extLst>
          </p:cNvPr>
          <p:cNvSpPr/>
          <p:nvPr/>
        </p:nvSpPr>
        <p:spPr>
          <a:xfrm>
            <a:off x="7177314" y="3875314"/>
            <a:ext cx="2286000" cy="1124557"/>
          </a:xfrm>
          <a:prstGeom prst="beve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Tournament checkpoint 692k</a:t>
            </a:r>
          </a:p>
        </p:txBody>
      </p:sp>
      <p:cxnSp>
        <p:nvCxnSpPr>
          <p:cNvPr id="16" name="Curved Connector 15">
            <a:extLst>
              <a:ext uri="{FF2B5EF4-FFF2-40B4-BE49-F238E27FC236}">
                <a16:creationId xmlns:a16="http://schemas.microsoft.com/office/drawing/2014/main" id="{30CA1E47-9CD1-B1A7-32E9-F2032360055F}"/>
              </a:ext>
            </a:extLst>
          </p:cNvPr>
          <p:cNvCxnSpPr>
            <a:stCxn id="14" idx="4"/>
            <a:endCxn id="8" idx="3"/>
          </p:cNvCxnSpPr>
          <p:nvPr/>
        </p:nvCxnSpPr>
        <p:spPr>
          <a:xfrm rot="10800000">
            <a:off x="6248400" y="3834009"/>
            <a:ext cx="928914" cy="603585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urved Connector 17">
            <a:extLst>
              <a:ext uri="{FF2B5EF4-FFF2-40B4-BE49-F238E27FC236}">
                <a16:creationId xmlns:a16="http://schemas.microsoft.com/office/drawing/2014/main" id="{E45573FA-6D3C-B231-80D1-DA5638B374AE}"/>
              </a:ext>
            </a:extLst>
          </p:cNvPr>
          <p:cNvCxnSpPr>
            <a:cxnSpLocks/>
            <a:stCxn id="14" idx="4"/>
            <a:endCxn id="9" idx="3"/>
          </p:cNvCxnSpPr>
          <p:nvPr/>
        </p:nvCxnSpPr>
        <p:spPr>
          <a:xfrm rot="10800000" flipV="1">
            <a:off x="6248400" y="4437593"/>
            <a:ext cx="928914" cy="67784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urved Connector 20">
            <a:extLst>
              <a:ext uri="{FF2B5EF4-FFF2-40B4-BE49-F238E27FC236}">
                <a16:creationId xmlns:a16="http://schemas.microsoft.com/office/drawing/2014/main" id="{2C7AF9B7-9EA6-8D56-E733-5632F2790802}"/>
              </a:ext>
            </a:extLst>
          </p:cNvPr>
          <p:cNvCxnSpPr>
            <a:cxnSpLocks/>
            <a:stCxn id="14" idx="6"/>
            <a:endCxn id="4" idx="3"/>
          </p:cNvCxnSpPr>
          <p:nvPr/>
        </p:nvCxnSpPr>
        <p:spPr>
          <a:xfrm rot="5400000" flipH="1" flipV="1">
            <a:off x="7852818" y="3041332"/>
            <a:ext cx="1301478" cy="366486"/>
          </a:xfrm>
          <a:prstGeom prst="curvedConnector4">
            <a:avLst>
              <a:gd name="adj1" fmla="val 36841"/>
              <a:gd name="adj2" fmla="val 16237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1416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36D1AA8-FBA8-D6B8-1B71-78EDEC512E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871" r="1" b="6776"/>
          <a:stretch>
            <a:fillRect/>
          </a:stretch>
        </p:blipFill>
        <p:spPr>
          <a:xfrm>
            <a:off x="-88014" y="-57712"/>
            <a:ext cx="12368027" cy="648444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D62F14-C6DC-5ADB-DCE0-D743CE89CF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8015" y="6332043"/>
            <a:ext cx="12561365" cy="3342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5C68071-8F00-AFAC-0FB0-BD40C688B0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8015" y="6531146"/>
            <a:ext cx="12561365" cy="334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469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3219B-F72A-E8F4-0CC0-C87E4591C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Final Takeaways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0B9786E-3822-A7F0-D0EE-995B0EA22646}"/>
              </a:ext>
            </a:extLst>
          </p:cNvPr>
          <p:cNvSpPr/>
          <p:nvPr/>
        </p:nvSpPr>
        <p:spPr>
          <a:xfrm>
            <a:off x="787049" y="1534087"/>
            <a:ext cx="3011128" cy="34732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Robustness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Evaluate beyond fixed bots using cross-play worst-case and quantiles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5843C22-7478-D0EF-10E2-71443BD49217}"/>
              </a:ext>
            </a:extLst>
          </p:cNvPr>
          <p:cNvSpPr/>
          <p:nvPr/>
        </p:nvSpPr>
        <p:spPr>
          <a:xfrm>
            <a:off x="4346327" y="1534085"/>
            <a:ext cx="3011128" cy="3473245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Diversity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Curated Opponent Pools prevent overfitting to narrow behaviors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942B773-D2DB-1599-E512-112EDC523B50}"/>
              </a:ext>
            </a:extLst>
          </p:cNvPr>
          <p:cNvSpPr/>
          <p:nvPr/>
        </p:nvSpPr>
        <p:spPr>
          <a:xfrm>
            <a:off x="7949848" y="1534086"/>
            <a:ext cx="3011128" cy="347324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Recursion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Recursive self-play + league management continuously raises the bar</a:t>
            </a:r>
          </a:p>
        </p:txBody>
      </p:sp>
      <p:pic>
        <p:nvPicPr>
          <p:cNvPr id="13" name="Graphic 12" descr="Refresh outline">
            <a:extLst>
              <a:ext uri="{FF2B5EF4-FFF2-40B4-BE49-F238E27FC236}">
                <a16:creationId xmlns:a16="http://schemas.microsoft.com/office/drawing/2014/main" id="{7E9EED00-B63B-5C90-04DF-80244F42F1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8212" y="1600009"/>
            <a:ext cx="914400" cy="914400"/>
          </a:xfrm>
          <a:prstGeom prst="rect">
            <a:avLst/>
          </a:prstGeom>
        </p:spPr>
      </p:pic>
      <p:pic>
        <p:nvPicPr>
          <p:cNvPr id="15" name="Graphic 14" descr="Settings outline">
            <a:extLst>
              <a:ext uri="{FF2B5EF4-FFF2-40B4-BE49-F238E27FC236}">
                <a16:creationId xmlns:a16="http://schemas.microsoft.com/office/drawing/2014/main" id="{2F29F938-9F79-05AB-959E-2AB1DFEF67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94691" y="1651628"/>
            <a:ext cx="914400" cy="914400"/>
          </a:xfrm>
          <a:prstGeom prst="rect">
            <a:avLst/>
          </a:prstGeom>
        </p:spPr>
      </p:pic>
      <p:pic>
        <p:nvPicPr>
          <p:cNvPr id="17" name="Graphic 16" descr="Full Brick Wall outline">
            <a:extLst>
              <a:ext uri="{FF2B5EF4-FFF2-40B4-BE49-F238E27FC236}">
                <a16:creationId xmlns:a16="http://schemas.microsoft.com/office/drawing/2014/main" id="{6E9A7929-A5B3-3DC7-9B58-92134BDB14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35413" y="1651628"/>
            <a:ext cx="914400" cy="914400"/>
          </a:xfrm>
          <a:prstGeom prst="rect">
            <a:avLst/>
          </a:prstGeom>
        </p:spPr>
      </p:pic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381541D-DDF4-A8F6-01CA-17D609A5B433}"/>
              </a:ext>
            </a:extLst>
          </p:cNvPr>
          <p:cNvSpPr/>
          <p:nvPr/>
        </p:nvSpPr>
        <p:spPr>
          <a:xfrm>
            <a:off x="838200" y="5206327"/>
            <a:ext cx="10028433" cy="12069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However:</a:t>
            </a:r>
            <a:endParaRPr lang="en-US" dirty="0"/>
          </a:p>
          <a:p>
            <a:pPr algn="ctr"/>
            <a:r>
              <a:rPr lang="en-US" dirty="0"/>
              <a:t>League Self-Play recursion is a finnicky thing. With bad generalization and mismatched capacity of the model, we easily run into </a:t>
            </a:r>
            <a:r>
              <a:rPr lang="en-US" b="1" dirty="0"/>
              <a:t>catastrophic forgetting </a:t>
            </a:r>
            <a:r>
              <a:rPr lang="en-US" dirty="0"/>
              <a:t>issues.</a:t>
            </a:r>
          </a:p>
        </p:txBody>
      </p:sp>
    </p:spTree>
    <p:extLst>
      <p:ext uri="{BB962C8B-B14F-4D97-AF65-F5344CB8AC3E}">
        <p14:creationId xmlns:p14="http://schemas.microsoft.com/office/powerpoint/2010/main" val="32810272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738954-8F35-D66C-7DA3-90D4CD7E7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CB95732-565A-4D2C-A3AB-CC460C0D3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7F1AF47-AE98-4034-BD91-1976FA4D9C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EC0EE2B-2029-48DD-893D-F528E651B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200" y="8482"/>
            <a:ext cx="3568276" cy="6858000"/>
          </a:xfrm>
          <a:prstGeom prst="rect">
            <a:avLst/>
          </a:prstGeom>
          <a:gradFill>
            <a:gsLst>
              <a:gs pos="0">
                <a:schemeClr val="accent1">
                  <a:alpha val="32000"/>
                </a:schemeClr>
              </a:gs>
              <a:gs pos="70000">
                <a:srgbClr val="000000">
                  <a:alpha val="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45AE1D08-1ED1-4F59-B42F-4D8EA33DC8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A79B912-88EA-4640-BDEB-51B3B11A0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E1DAA6-36D9-CA2A-CBA3-8EAD8D7B0FCC}"/>
              </a:ext>
            </a:extLst>
          </p:cNvPr>
          <p:cNvSpPr txBox="1"/>
          <p:nvPr/>
        </p:nvSpPr>
        <p:spPr>
          <a:xfrm>
            <a:off x="662180" y="2862471"/>
            <a:ext cx="3041803" cy="290780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5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Thanks to the YouTuber “</a:t>
            </a:r>
            <a:r>
              <a:rPr lang="en-US" sz="25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Inexperienced Me</a:t>
            </a:r>
            <a:r>
              <a:rPr lang="en-US" sz="25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” for an incredibly valuable breakdown of the core </a:t>
            </a:r>
            <a:r>
              <a:rPr lang="en-US" sz="25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Dreamer-V3</a:t>
            </a:r>
            <a:r>
              <a:rPr lang="en-US" sz="25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architecture and code, which serves as the raw basis for my implementation</a:t>
            </a:r>
          </a:p>
        </p:txBody>
      </p:sp>
      <p:pic>
        <p:nvPicPr>
          <p:cNvPr id="9" name="Picture 8" descr="A diagram of a training program&#10;&#10;AI-generated content may be incorrect.">
            <a:extLst>
              <a:ext uri="{FF2B5EF4-FFF2-40B4-BE49-F238E27FC236}">
                <a16:creationId xmlns:a16="http://schemas.microsoft.com/office/drawing/2014/main" id="{698AFDC6-A050-7782-01B2-96535771A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1040" y="734781"/>
            <a:ext cx="3387578" cy="2439055"/>
          </a:xfrm>
          <a:prstGeom prst="rect">
            <a:avLst/>
          </a:prstGeom>
        </p:spPr>
      </p:pic>
      <p:pic>
        <p:nvPicPr>
          <p:cNvPr id="14" name="Online Media 13" descr="DreamerV3 Tutorial. Paper, Diagrams, Clean Code">
            <a:hlinkClick r:id="" action="ppaction://media"/>
            <a:extLst>
              <a:ext uri="{FF2B5EF4-FFF2-40B4-BE49-F238E27FC236}">
                <a16:creationId xmlns:a16="http://schemas.microsoft.com/office/drawing/2014/main" id="{AC7EFCB8-16DF-CFDD-BF23-ED7D2E8F53CE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8293930" y="1241798"/>
            <a:ext cx="3419533" cy="1932036"/>
          </a:xfrm>
          <a:prstGeom prst="rect">
            <a:avLst/>
          </a:prstGeom>
        </p:spPr>
      </p:pic>
      <p:pic>
        <p:nvPicPr>
          <p:cNvPr id="19" name="Picture 18" descr="A screenshot of a social media account&#10;&#10;AI-generated content may be incorrect.">
            <a:extLst>
              <a:ext uri="{FF2B5EF4-FFF2-40B4-BE49-F238E27FC236}">
                <a16:creationId xmlns:a16="http://schemas.microsoft.com/office/drawing/2014/main" id="{BE030FE6-657B-A7AE-CF7F-53295380DB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1040" y="3429000"/>
            <a:ext cx="7112423" cy="2702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289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5219498-D544-41AC-98FE-8F956EF66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00DBFC-17A9-4E0A-AEE2-A49F9AEEF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5BB263-E5CB-CBC8-E409-DF71E647C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74613BB-817C-4C4F-8A24-4936F2F06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01023" y="52996"/>
            <a:ext cx="6093363" cy="6805005"/>
            <a:chOff x="6101023" y="52996"/>
            <a:chExt cx="6093363" cy="6805005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26C820D-9A01-44F0-AE18-C2DAB089B8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3517682 w 5890490"/>
                <a:gd name="connsiteY0" fmla="*/ 0 h 6578439"/>
                <a:gd name="connsiteX1" fmla="*/ 5849513 w 5890490"/>
                <a:gd name="connsiteY1" fmla="*/ 841730 h 6578439"/>
                <a:gd name="connsiteX2" fmla="*/ 5890490 w 5890490"/>
                <a:gd name="connsiteY2" fmla="*/ 879060 h 6578439"/>
                <a:gd name="connsiteX3" fmla="*/ 5890490 w 5890490"/>
                <a:gd name="connsiteY3" fmla="*/ 1816052 h 6578439"/>
                <a:gd name="connsiteX4" fmla="*/ 5856961 w 5890490"/>
                <a:gd name="connsiteY4" fmla="*/ 1771023 h 6578439"/>
                <a:gd name="connsiteX5" fmla="*/ 5655397 w 5890490"/>
                <a:gd name="connsiteY5" fmla="*/ 1548813 h 6578439"/>
                <a:gd name="connsiteX6" fmla="*/ 3517682 w 5890490"/>
                <a:gd name="connsiteY6" fmla="*/ 658717 h 6578439"/>
                <a:gd name="connsiteX7" fmla="*/ 2395696 w 5890490"/>
                <a:gd name="connsiteY7" fmla="*/ 850721 h 6578439"/>
                <a:gd name="connsiteX8" fmla="*/ 1519955 w 5890490"/>
                <a:gd name="connsiteY8" fmla="*/ 1450441 h 6578439"/>
                <a:gd name="connsiteX9" fmla="*/ 1223630 w 5890490"/>
                <a:gd name="connsiteY9" fmla="*/ 1841430 h 6578439"/>
                <a:gd name="connsiteX10" fmla="*/ 1075857 w 5890490"/>
                <a:gd name="connsiteY10" fmla="*/ 2329343 h 6578439"/>
                <a:gd name="connsiteX11" fmla="*/ 731010 w 5890490"/>
                <a:gd name="connsiteY11" fmla="*/ 3483744 h 6578439"/>
                <a:gd name="connsiteX12" fmla="*/ 741000 w 5890490"/>
                <a:gd name="connsiteY12" fmla="*/ 4479719 h 6578439"/>
                <a:gd name="connsiteX13" fmla="*/ 1315615 w 5890490"/>
                <a:gd name="connsiteY13" fmla="*/ 5443827 h 6578439"/>
                <a:gd name="connsiteX14" fmla="*/ 2277503 w 5890490"/>
                <a:gd name="connsiteY14" fmla="*/ 6259386 h 6578439"/>
                <a:gd name="connsiteX15" fmla="*/ 3439448 w 5890490"/>
                <a:gd name="connsiteY15" fmla="*/ 6551739 h 6578439"/>
                <a:gd name="connsiteX16" fmla="*/ 4408732 w 5890490"/>
                <a:gd name="connsiteY16" fmla="*/ 6255172 h 6578439"/>
                <a:gd name="connsiteX17" fmla="*/ 5343243 w 5890490"/>
                <a:gd name="connsiteY17" fmla="*/ 5442509 h 6578439"/>
                <a:gd name="connsiteX18" fmla="*/ 5745566 w 5890490"/>
                <a:gd name="connsiteY18" fmla="*/ 5056656 h 6578439"/>
                <a:gd name="connsiteX19" fmla="*/ 5890490 w 5890490"/>
                <a:gd name="connsiteY19" fmla="*/ 4920880 h 6578439"/>
                <a:gd name="connsiteX20" fmla="*/ 5890490 w 5890490"/>
                <a:gd name="connsiteY20" fmla="*/ 5821966 h 6578439"/>
                <a:gd name="connsiteX21" fmla="*/ 5802002 w 5890490"/>
                <a:gd name="connsiteY21" fmla="*/ 5907904 h 6578439"/>
                <a:gd name="connsiteX22" fmla="*/ 5294358 w 5890490"/>
                <a:gd name="connsiteY22" fmla="*/ 6397505 h 6578439"/>
                <a:gd name="connsiteX23" fmla="*/ 5077178 w 5890490"/>
                <a:gd name="connsiteY23" fmla="*/ 6578439 h 6578439"/>
                <a:gd name="connsiteX24" fmla="*/ 1567290 w 5890490"/>
                <a:gd name="connsiteY24" fmla="*/ 6578439 h 6578439"/>
                <a:gd name="connsiteX25" fmla="*/ 1508588 w 5890490"/>
                <a:gd name="connsiteY25" fmla="*/ 6535186 h 6578439"/>
                <a:gd name="connsiteX26" fmla="*/ 826498 w 5890490"/>
                <a:gd name="connsiteY26" fmla="*/ 5876034 h 6578439"/>
                <a:gd name="connsiteX27" fmla="*/ 122403 w 5890490"/>
                <a:gd name="connsiteY27" fmla="*/ 3255655 h 6578439"/>
                <a:gd name="connsiteX28" fmla="*/ 1061197 w 5890490"/>
                <a:gd name="connsiteY28" fmla="*/ 984650 h 6578439"/>
                <a:gd name="connsiteX29" fmla="*/ 3517682 w 5890490"/>
                <a:gd name="connsiteY29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890490" h="6578439">
                  <a:moveTo>
                    <a:pt x="3517682" y="0"/>
                  </a:moveTo>
                  <a:cubicBezTo>
                    <a:pt x="4402016" y="0"/>
                    <a:pt x="5213741" y="315483"/>
                    <a:pt x="5849513" y="841730"/>
                  </a:cubicBezTo>
                  <a:lnTo>
                    <a:pt x="5890490" y="879060"/>
                  </a:lnTo>
                  <a:lnTo>
                    <a:pt x="5890490" y="1816052"/>
                  </a:lnTo>
                  <a:lnTo>
                    <a:pt x="5856961" y="1771023"/>
                  </a:lnTo>
                  <a:cubicBezTo>
                    <a:pt x="5793650" y="1694076"/>
                    <a:pt x="5726429" y="1619959"/>
                    <a:pt x="5655397" y="1548813"/>
                  </a:cubicBezTo>
                  <a:cubicBezTo>
                    <a:pt x="5082208" y="974906"/>
                    <a:pt x="4322973" y="658717"/>
                    <a:pt x="3517682" y="658717"/>
                  </a:cubicBezTo>
                  <a:cubicBezTo>
                    <a:pt x="3085520" y="658717"/>
                    <a:pt x="2718488" y="721533"/>
                    <a:pt x="2395696" y="850721"/>
                  </a:cubicBezTo>
                  <a:cubicBezTo>
                    <a:pt x="2079132" y="977407"/>
                    <a:pt x="1792668" y="1173626"/>
                    <a:pt x="1519955" y="1450441"/>
                  </a:cubicBezTo>
                  <a:cubicBezTo>
                    <a:pt x="1330275" y="1642840"/>
                    <a:pt x="1263719" y="1756094"/>
                    <a:pt x="1223630" y="1841430"/>
                  </a:cubicBezTo>
                  <a:cubicBezTo>
                    <a:pt x="1166545" y="1962981"/>
                    <a:pt x="1128532" y="2116663"/>
                    <a:pt x="1075857" y="2329343"/>
                  </a:cubicBezTo>
                  <a:cubicBezTo>
                    <a:pt x="1008652" y="2601153"/>
                    <a:pt x="916537" y="2973574"/>
                    <a:pt x="731010" y="3483744"/>
                  </a:cubicBezTo>
                  <a:cubicBezTo>
                    <a:pt x="617488" y="3795981"/>
                    <a:pt x="620731" y="4121653"/>
                    <a:pt x="741000" y="4479719"/>
                  </a:cubicBezTo>
                  <a:cubicBezTo>
                    <a:pt x="847257" y="4796172"/>
                    <a:pt x="1045888" y="5129481"/>
                    <a:pt x="1315615" y="5443827"/>
                  </a:cubicBezTo>
                  <a:cubicBezTo>
                    <a:pt x="1630753" y="5810980"/>
                    <a:pt x="1945371" y="6077784"/>
                    <a:pt x="2277503" y="6259386"/>
                  </a:cubicBezTo>
                  <a:cubicBezTo>
                    <a:pt x="2637530" y="6456133"/>
                    <a:pt x="3017536" y="6551739"/>
                    <a:pt x="3439448" y="6551739"/>
                  </a:cubicBezTo>
                  <a:cubicBezTo>
                    <a:pt x="3781571" y="6551739"/>
                    <a:pt x="4089573" y="6457449"/>
                    <a:pt x="4408732" y="6255172"/>
                  </a:cubicBezTo>
                  <a:cubicBezTo>
                    <a:pt x="4738010" y="6046310"/>
                    <a:pt x="5050941" y="5739207"/>
                    <a:pt x="5343243" y="5442509"/>
                  </a:cubicBezTo>
                  <a:cubicBezTo>
                    <a:pt x="5479860" y="5303970"/>
                    <a:pt x="5614918" y="5178206"/>
                    <a:pt x="5745566" y="5056656"/>
                  </a:cubicBezTo>
                  <a:lnTo>
                    <a:pt x="5890490" y="4920880"/>
                  </a:lnTo>
                  <a:lnTo>
                    <a:pt x="5890490" y="5821966"/>
                  </a:lnTo>
                  <a:lnTo>
                    <a:pt x="5802002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58B604F-996E-4349-B131-E04ED285D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5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7CCEAF3-651B-4605-AE58-F96E22703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3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/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D519330-E5F1-4248-B58C-1AA0D9E6D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1" name="Graphic 10" descr="Handshake">
            <a:extLst>
              <a:ext uri="{FF2B5EF4-FFF2-40B4-BE49-F238E27FC236}">
                <a16:creationId xmlns:a16="http://schemas.microsoft.com/office/drawing/2014/main" id="{6E48D1E5-C718-0643-86C6-56D4726CB0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29652" y="1859078"/>
            <a:ext cx="3821102" cy="382110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99014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laude-Esque">
      <a:dk1>
        <a:srgbClr val="4A3B31"/>
      </a:dk1>
      <a:lt1>
        <a:srgbClr val="E8E8E8"/>
      </a:lt1>
      <a:dk2>
        <a:srgbClr val="908276"/>
      </a:dk2>
      <a:lt2>
        <a:srgbClr val="E9E4D9"/>
      </a:lt2>
      <a:accent1>
        <a:srgbClr val="C66E4D"/>
      </a:accent1>
      <a:accent2>
        <a:srgbClr val="903D1F"/>
      </a:accent2>
      <a:accent3>
        <a:srgbClr val="E9E4D9"/>
      </a:accent3>
      <a:accent4>
        <a:srgbClr val="8B8580"/>
      </a:accent4>
      <a:accent5>
        <a:srgbClr val="4A3B31"/>
      </a:accent5>
      <a:accent6>
        <a:srgbClr val="4EA72E"/>
      </a:accent6>
      <a:hlink>
        <a:srgbClr val="C66E4D"/>
      </a:hlink>
      <a:folHlink>
        <a:srgbClr val="903D1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769</TotalTime>
  <Words>447</Words>
  <Application>Microsoft Macintosh PowerPoint</Application>
  <PresentationFormat>Widescreen</PresentationFormat>
  <Paragraphs>88</Paragraphs>
  <Slides>13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Reinforcement Learning WS25/26 Project Air-Hockey</vt:lpstr>
      <vt:lpstr>Table of Contents</vt:lpstr>
      <vt:lpstr>DreamerV3 Hockey World-Model RL w/ recursive self-play and curated league training</vt:lpstr>
      <vt:lpstr>Problem Setup and Success Criteria</vt:lpstr>
      <vt:lpstr>Method: DreamerV3 + Sparse Reward Adaptation</vt:lpstr>
      <vt:lpstr>Training Curriculum</vt:lpstr>
      <vt:lpstr>Self-Play and League Curation Pipeline</vt:lpstr>
      <vt:lpstr>Results: Robust Selection Beats Single-Metric Picking Fixed-bot performance saturating | Cross-Play Metrics important to discriminate between checkpoints</vt:lpstr>
      <vt:lpstr>Results: Robust Selection Beats Single-Metric Picking Placed 16th out of all agents in the final tournament. Placed 11th out of all teams in the final tournament.</vt:lpstr>
      <vt:lpstr>PowerPoint Presentation</vt:lpstr>
      <vt:lpstr>Final Takeaways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 Kueschall</dc:creator>
  <cp:lastModifiedBy>Carl Kueschall</cp:lastModifiedBy>
  <cp:revision>120</cp:revision>
  <dcterms:created xsi:type="dcterms:W3CDTF">2026-02-25T11:04:28Z</dcterms:created>
  <dcterms:modified xsi:type="dcterms:W3CDTF">2026-02-25T23:53:47Z</dcterms:modified>
</cp:coreProperties>
</file>